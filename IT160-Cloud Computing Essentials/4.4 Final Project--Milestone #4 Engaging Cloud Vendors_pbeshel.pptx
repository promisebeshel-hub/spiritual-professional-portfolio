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73F7A-285C-441A-8744-0EF02434999F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F1E88-216E-4DD1-BAAB-E2EA1FA0F5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54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Hello stakeholders, I am [Your Name]. Today, I am presenting our vendor evaluation for </a:t>
            </a:r>
            <a:r>
              <a:rPr lang="en-GB" dirty="0" err="1"/>
              <a:t>Besprotech</a:t>
            </a:r>
            <a:r>
              <a:rPr lang="en-GB" dirty="0"/>
              <a:t> Solutions Ltd. As we grow to a 10-employee team, our goal is to move from local silos to a unified cloud environment that supports our mission of tech facilitation and human capital development.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F1E88-216E-4DD1-BAAB-E2EA1FA0F57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881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evaluated two giants: AWS and Microsoft Azure. AWS offers an incredible breadth of services, particularly in IoT. However, Azure stands out for us because it acts as a natural extension of the Microsoft tools we already use every day. It allows us to use our existing licenses to save money—a program called the Azure Hybrid Benefit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F1E88-216E-4DD1-BAAB-E2EA1FA0F57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665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performed a Proof of Concept on both. While both platforms offer a 'four-nines' uptime (99.99%), Azure’s integration with our 10-person team’s identity management was significantly more streamlined. In the rare event of an outage, both providers offer service credits, ensuring our investment is protected.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F1E88-216E-4DD1-BAAB-E2EA1FA0F57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639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My final recommendation for </a:t>
            </a:r>
            <a:r>
              <a:rPr lang="en-GB" dirty="0" err="1"/>
              <a:t>Besprotech</a:t>
            </a:r>
            <a:r>
              <a:rPr lang="en-GB" dirty="0"/>
              <a:t> is Microsoft Azure. It offers the best 'Total Cost of Ownership' by leveraging our existing Microsoft ecosystem and provides the most user-friendly path for our employees to collaborate on client projects. Thank you for your time."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F1E88-216E-4DD1-BAAB-E2EA1FA0F57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941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97E1-44DE-2978-0CFE-047702D9B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48BE6-6416-88F1-9688-5A8A7EE49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102B6-BA92-B554-A721-AAF0E94F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127D4-FE25-33EB-6ABA-8EF3CE24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4FCBC-0CE3-62A0-EC5F-7E60CA01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39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E7C3-A7D5-9924-77C3-3718A9801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8ED5-E701-0917-6CA6-A93ABC99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DD5D5-A459-9C08-1DA1-C84AE4AA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4FB30-4E74-1521-45A5-9D04B5FA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90CC4-3A65-9966-AA1F-EB5A60DA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15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1A1C-A5CB-609A-2104-22B9B9C3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715C9-C36F-B94F-5356-50BDDBDAA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1EC65-DC9B-1D07-2E0D-60DF9BC23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DDD1E-A2E6-A483-E5FF-529E1E62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26FC-B9D8-4457-CB3D-9B9E852A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60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EBB9-F357-8A2B-F5AF-8266E938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C629-7703-E193-8FE6-03E2CC71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660A1-BE8D-2BC2-9E9D-67C3FE5FD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70A93-F892-7178-E549-62A857F9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CFF17-D9FA-51DB-0038-A60B712B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BBABE-3955-0364-B6E6-57654C1D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36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CE71-4AC7-3237-A744-A1E62E5BF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57C00-B4DF-E242-3BD6-67FA17AD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F21A1-40C3-0BFB-11B0-6341EDFBA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6353-FDD1-8596-0459-F43C5B7A3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B9FBF-FB25-5AF5-FA41-D1C3586AC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9B0B1-AE51-B46E-B5E4-57FFEBDD7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3F3A5-A509-195C-C0DB-DB56C7FA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70D9A-89EA-CC75-6381-4D7D801B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28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605E-E5A0-156F-4B33-B819985E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E957F-7694-6BA6-6105-BEED96F0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35D5E-56C5-F5FC-F8C8-452688D7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992E1-C897-D4C8-05E7-73ACE52C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0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9CBA9-C8E0-A95F-0B79-859C4E7B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9D0D3-74E6-FA00-A1F9-FB0EE1FB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BD3D9-A0F3-B12F-3492-3C3A803B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21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27387-9D56-C15D-6ABB-6984A99F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E441-92E5-CEB9-DDF0-46A0E2B0D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564FC-654C-6BCB-7DAE-A29D3F7BC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1C8FE-B88C-B44D-97EB-B2B8C8BE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5A6A-55A0-BAA1-F63A-2CA20C42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CB630-CDBA-6BC1-5146-B4FACD28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30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89BA-070C-C698-B4C8-D5B08D6D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CF20C-50E2-A46E-91E7-E6730E9D5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18D5D-7915-3DDC-0FC5-6DD077285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D02FB-E13C-26C4-0220-0CCD781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D6D0E-0D8C-51F1-099D-9D1964DA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0051D-D907-72AF-332E-3901B345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62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6B19-5213-3FCC-C462-DC312B5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F06E3-67E2-62F1-3269-980EC65F4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8C041-5529-1022-4F26-388B36A9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AE3DB-CF64-ED0B-C66C-E02EA706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562DC-F7DE-6F1F-D25D-1BAFECEE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CF562-F614-54B1-A9B3-67ED631CA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CBBD1-3D18-F1F7-324B-F512D7D5C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07377-873E-F051-63F2-64AEBB64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4441C-B741-F1A9-63A7-9F4F1C68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0F8C1-117C-2ABF-05BB-3B17ADCD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75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B9EA94-D378-E8EB-5714-C49C51B2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7639F-113E-05E3-F141-A8C8E0A05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FAF83-EFB9-5476-F555-98E8813B0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61D46-0FAF-4071-AAAA-34AC2E707F32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AED32-6009-9435-01DE-6E923868C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F167C-C54D-780F-4E1E-865699940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B07DF-18A6-440E-B53C-B0B6940D9F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4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3CEA4-81B9-A7D3-3600-E671B068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4" t="10763" r="20679" b="21919"/>
          <a:stretch>
            <a:fillRect/>
          </a:stretch>
        </p:blipFill>
        <p:spPr>
          <a:xfrm>
            <a:off x="2743200" y="1425388"/>
            <a:ext cx="6898341" cy="235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4964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448F-0F9D-0315-DB3F-1C5A90FA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FA4A8-9008-9BBE-B735-210EC83CF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BE3F1-7CDB-CEDE-6A61-F53410AD805E}"/>
              </a:ext>
            </a:extLst>
          </p:cNvPr>
          <p:cNvSpPr txBox="1"/>
          <p:nvPr/>
        </p:nvSpPr>
        <p:spPr>
          <a:xfrm>
            <a:off x="1492624" y="1825624"/>
            <a:ext cx="70328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Engaging Cloud Vendors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Management &amp; Technical Operations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4690128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800B-9671-269F-4797-0757FB77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Vendor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23B41-E991-8057-2C43-73221B399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540" y="2050675"/>
            <a:ext cx="2756647" cy="2756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504C81-4CEF-EA24-6A0B-E0E3F02FC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17" y="1556123"/>
            <a:ext cx="5618629" cy="374575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6655847-A5C1-66CC-A249-394B4B69D727}"/>
              </a:ext>
            </a:extLst>
          </p:cNvPr>
          <p:cNvSpPr txBox="1">
            <a:spLocks/>
          </p:cNvSpPr>
          <p:nvPr/>
        </p:nvSpPr>
        <p:spPr>
          <a:xfrm>
            <a:off x="6096000" y="2881686"/>
            <a:ext cx="13312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1617845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F8DA-35B5-6A9E-DA5C-ED5BF322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&amp; SLA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23F4FC-5CA9-52BF-BBEF-99F35E573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245533"/>
              </p:ext>
            </p:extLst>
          </p:nvPr>
        </p:nvGraphicFramePr>
        <p:xfrm>
          <a:off x="1344706" y="1690688"/>
          <a:ext cx="9049871" cy="4158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5531">
                  <a:extLst>
                    <a:ext uri="{9D8B030D-6E8A-4147-A177-3AD203B41FA5}">
                      <a16:colId xmlns:a16="http://schemas.microsoft.com/office/drawing/2014/main" val="3833666938"/>
                    </a:ext>
                  </a:extLst>
                </a:gridCol>
                <a:gridCol w="2137415">
                  <a:extLst>
                    <a:ext uri="{9D8B030D-6E8A-4147-A177-3AD203B41FA5}">
                      <a16:colId xmlns:a16="http://schemas.microsoft.com/office/drawing/2014/main" val="3231521701"/>
                    </a:ext>
                  </a:extLst>
                </a:gridCol>
                <a:gridCol w="3646023">
                  <a:extLst>
                    <a:ext uri="{9D8B030D-6E8A-4147-A177-3AD203B41FA5}">
                      <a16:colId xmlns:a16="http://schemas.microsoft.com/office/drawing/2014/main" val="4290182034"/>
                    </a:ext>
                  </a:extLst>
                </a:gridCol>
                <a:gridCol w="2760902">
                  <a:extLst>
                    <a:ext uri="{9D8B030D-6E8A-4147-A177-3AD203B41FA5}">
                      <a16:colId xmlns:a16="http://schemas.microsoft.com/office/drawing/2014/main" val="1760838797"/>
                    </a:ext>
                  </a:extLst>
                </a:gridCol>
              </a:tblGrid>
              <a:tr h="7018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SN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Feature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Microsoft Azure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Amazon Web Services (AWS)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001672"/>
                  </a:ext>
                </a:extLst>
              </a:tr>
              <a:tr h="972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Uptime (4 Nines)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99.99% for VMs in Availability Zones.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99.99% for Multi-AZ EC2 instances.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347113"/>
                  </a:ext>
                </a:extLst>
              </a:tr>
              <a:tr h="1062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Performance Level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High-speed global fiber backbone for low-latency traffic.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Broadest global infrastructure with 30+ geographic regions.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6945394"/>
                  </a:ext>
                </a:extLst>
              </a:tr>
              <a:tr h="14223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Outage Recompense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Service credits (10%–25%) based on the severity of the monthly downtime.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Service credits applied toward future usage based on specific SLA breach tiers.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342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0377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AE78-B53B-A322-28CE-5C9B0E2C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 &amp; 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1E180-D7A7-1637-33FD-95FB7C054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685" y="1811617"/>
            <a:ext cx="5618629" cy="37457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F57921-7BA9-DB26-01E7-E16F317161A0}"/>
              </a:ext>
            </a:extLst>
          </p:cNvPr>
          <p:cNvSpPr txBox="1"/>
          <p:nvPr/>
        </p:nvSpPr>
        <p:spPr>
          <a:xfrm>
            <a:off x="1465729" y="4760259"/>
            <a:ext cx="4814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Credits: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gadget.co.za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logo.wine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dootrix.com</a:t>
            </a:r>
          </a:p>
        </p:txBody>
      </p:sp>
    </p:spTree>
    <p:extLst>
      <p:ext uri="{BB962C8B-B14F-4D97-AF65-F5344CB8AC3E}">
        <p14:creationId xmlns:p14="http://schemas.microsoft.com/office/powerpoint/2010/main" val="1495717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337</Words>
  <Application>Microsoft Office PowerPoint</Application>
  <PresentationFormat>Widescreen</PresentationFormat>
  <Paragraphs>36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Introduction</vt:lpstr>
      <vt:lpstr>Vendor Comparison</vt:lpstr>
      <vt:lpstr>Evaluation &amp; SLA</vt:lpstr>
      <vt:lpstr>Recommendation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Promise Beshel</dc:creator>
  <cp:lastModifiedBy>Promise Beshel</cp:lastModifiedBy>
  <cp:revision>1</cp:revision>
  <dcterms:created xsi:type="dcterms:W3CDTF">2026-02-02T23:43:20Z</dcterms:created>
  <dcterms:modified xsi:type="dcterms:W3CDTF">2026-02-02T23:44:44Z</dcterms:modified>
</cp:coreProperties>
</file>